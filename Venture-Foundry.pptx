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F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10973"/>
          </a:xfrm>
          <a:prstGeom prst="rect">
            <a:avLst/>
          </a:prstGeom>
          <a:solidFill>
            <a:srgbClr val="2A2A3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7411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Venture Foundry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411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717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411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717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" y="1143000"/>
            <a:ext cx="347472" cy="347472"/>
          </a:xfrm>
          <a:prstGeom prst="arc">
            <a:avLst>
              <a:gd name="adj1" fmla="val 600000"/>
              <a:gd name="adj2" fmla="val 4800000"/>
            </a:avLst>
          </a:prstGeom>
          <a:noFill/>
          <a:ln w="31750">
            <a:solidFill>
              <a:srgbClr val="FAFA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5400000">
            <a:off x="576072" y="1143000"/>
            <a:ext cx="347472" cy="347472"/>
          </a:xfrm>
          <a:prstGeom prst="arc">
            <a:avLst>
              <a:gd name="adj1" fmla="val 600000"/>
              <a:gd name="adj2" fmla="val 4800000"/>
            </a:avLst>
          </a:prstGeom>
          <a:noFill/>
          <a:ln w="31750">
            <a:solidFill>
              <a:srgbClr val="FAFA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576072" y="1143000"/>
            <a:ext cx="347472" cy="347472"/>
          </a:xfrm>
          <a:prstGeom prst="arc">
            <a:avLst>
              <a:gd name="adj1" fmla="val 600000"/>
              <a:gd name="adj2" fmla="val 4800000"/>
            </a:avLst>
          </a:prstGeom>
          <a:noFill/>
          <a:ln w="31750">
            <a:solidFill>
              <a:srgbClr val="FAFA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6200000">
            <a:off x="576072" y="1143000"/>
            <a:ext cx="347472" cy="347472"/>
          </a:xfrm>
          <a:prstGeom prst="arc">
            <a:avLst>
              <a:gd name="adj1" fmla="val 600000"/>
              <a:gd name="adj2" fmla="val 4800000"/>
            </a:avLst>
          </a:prstGeom>
          <a:noFill/>
          <a:ln w="31750">
            <a:solidFill>
              <a:srgbClr val="FAFA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5917" y="1272845"/>
            <a:ext cx="87782" cy="87782"/>
          </a:xfrm>
          <a:prstGeom prst="ellipse">
            <a:avLst/>
          </a:prstGeom>
          <a:solidFill>
            <a:srgbClr val="FAFAFA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1024128"/>
            <a:ext cx="7315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Venture Foundry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097280" y="159105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STARTUP RESEARCH, WITH SOURCES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22402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Research your market, competitors, cofounders and investors before you build.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answer carries the link it came from.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6928" y="3977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Factory hackathon ·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411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717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8010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8010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Founders build before they know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52144"/>
            <a:ext cx="8010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questions decide whether a startup survives. Most founders answer them on instinct, because answering them properly takes weeks.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2523744" cy="1920240"/>
          </a:xfrm>
          <a:prstGeom prst="roundRect">
            <a:avLst>
              <a:gd name="adj" fmla="val 2381"/>
            </a:avLst>
          </a:prstGeom>
          <a:solidFill>
            <a:srgbClr val="16161A"/>
          </a:solidFill>
          <a:ln w="12700">
            <a:solidFill>
              <a:srgbClr val="2A2A3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37360"/>
            <a:ext cx="41148" cy="19202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8745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68096" y="24688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 because there was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market need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68096" y="324612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Ideation · Market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10128" y="1737360"/>
            <a:ext cx="2523744" cy="1920240"/>
          </a:xfrm>
          <a:prstGeom prst="roundRect">
            <a:avLst>
              <a:gd name="adj" fmla="val 2381"/>
            </a:avLst>
          </a:prstGeom>
          <a:solidFill>
            <a:srgbClr val="16161A"/>
          </a:solidFill>
          <a:ln w="12700">
            <a:solidFill>
              <a:srgbClr val="2A2A3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10128" y="1737360"/>
            <a:ext cx="41148" cy="19202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2" name="Text 10"/>
          <p:cNvSpPr/>
          <p:nvPr/>
        </p:nvSpPr>
        <p:spPr>
          <a:xfrm>
            <a:off x="3511296" y="18745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65%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511296" y="24688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failures come from people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problems, not the product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11296" y="324612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People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53328" y="1737360"/>
            <a:ext cx="2523744" cy="1920240"/>
          </a:xfrm>
          <a:prstGeom prst="roundRect">
            <a:avLst>
              <a:gd name="adj" fmla="val 2381"/>
            </a:avLst>
          </a:prstGeom>
          <a:solidFill>
            <a:srgbClr val="16161A"/>
          </a:solidFill>
          <a:ln w="12700">
            <a:solidFill>
              <a:srgbClr val="2A2A3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53328" y="1737360"/>
            <a:ext cx="41148" cy="19202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7" name="Text 15"/>
          <p:cNvSpPr/>
          <p:nvPr/>
        </p:nvSpPr>
        <p:spPr>
          <a:xfrm>
            <a:off x="6254496" y="18745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254496" y="24688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out of cash before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reaching the next round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54496" y="324612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Capital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66928" y="3886200"/>
            <a:ext cx="8010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Sources: CB Insights, The Top 20 Reasons Startups Fail · Noam Wasserman, The Founder's Dilemmas (Princeton, 2012)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" y="4160520"/>
            <a:ext cx="8010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Startup Genome puts it another way: 74% of ~3,200 high-growth startups failed by scaling before the market was proven.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411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717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8010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8010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Answers you can defend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52144"/>
            <a:ext cx="8010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Venture Foundry researches the four questions for you — and shows its working. Every number, every name and every fund arrives with the page it came from.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3877056" cy="1371600"/>
          </a:xfrm>
          <a:prstGeom prst="roundRect">
            <a:avLst>
              <a:gd name="adj" fmla="val 3333"/>
            </a:avLst>
          </a:prstGeom>
          <a:solidFill>
            <a:srgbClr val="16161A"/>
          </a:solidFill>
          <a:ln w="12700">
            <a:solidFill>
              <a:srgbClr val="2A2A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9202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everyone else gives you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21284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“The market is worth $109 billion.”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6384" y="257860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source. No method. No date. It might be right — you cannot tell.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0016" y="1783080"/>
            <a:ext cx="3877056" cy="1371600"/>
          </a:xfrm>
          <a:prstGeom prst="roundRect">
            <a:avLst>
              <a:gd name="adj" fmla="val 3333"/>
            </a:avLst>
          </a:prstGeom>
          <a:solidFill>
            <a:srgbClr val="16161A"/>
          </a:solidFill>
          <a:ln w="12700">
            <a:solidFill>
              <a:srgbClr val="2A2A3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0016" y="1783080"/>
            <a:ext cx="41148" cy="1371600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11" name="Text 9"/>
          <p:cNvSpPr/>
          <p:nvPr/>
        </p:nvSpPr>
        <p:spPr>
          <a:xfrm>
            <a:off x="4919472" y="19202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give you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9472" y="221284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number, plus the ten pages it came from.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19472" y="257860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any source. Check the work before you put it in a deck.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3429000"/>
            <a:ext cx="2011680" cy="10973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3584448"/>
            <a:ext cx="8010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EE7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model never supplies the evidence.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66928" y="3931920"/>
            <a:ext cx="8010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only ever interprets what a live search actually found.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411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717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8010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WE SOLVE IT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8010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first. Reason second. Never the other way round.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188720"/>
            <a:ext cx="2523744" cy="1371600"/>
          </a:xfrm>
          <a:prstGeom prst="roundRect">
            <a:avLst>
              <a:gd name="adj" fmla="val 3333"/>
            </a:avLst>
          </a:prstGeom>
          <a:solidFill>
            <a:srgbClr val="16161A"/>
          </a:solidFill>
          <a:ln w="12700">
            <a:solidFill>
              <a:srgbClr val="2A2A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188720"/>
            <a:ext cx="41148" cy="1371600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316736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68096" y="153619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Gather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8096" y="1847088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the live web for the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 being asked.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10128" y="1188720"/>
            <a:ext cx="2523744" cy="1371600"/>
          </a:xfrm>
          <a:prstGeom prst="roundRect">
            <a:avLst>
              <a:gd name="adj" fmla="val 3333"/>
            </a:avLst>
          </a:prstGeom>
          <a:solidFill>
            <a:srgbClr val="16161A"/>
          </a:solidFill>
          <a:ln w="12700">
            <a:solidFill>
              <a:srgbClr val="2A2A3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10128" y="1188720"/>
            <a:ext cx="41148" cy="1371600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11" name="Text 9"/>
          <p:cNvSpPr/>
          <p:nvPr/>
        </p:nvSpPr>
        <p:spPr>
          <a:xfrm>
            <a:off x="3511296" y="1316736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11296" y="153619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11296" y="1847088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Pull the facts out of what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came back.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53328" y="1188720"/>
            <a:ext cx="2523744" cy="1371600"/>
          </a:xfrm>
          <a:prstGeom prst="roundRect">
            <a:avLst>
              <a:gd name="adj" fmla="val 3333"/>
            </a:avLst>
          </a:prstGeom>
          <a:solidFill>
            <a:srgbClr val="16161A"/>
          </a:solidFill>
          <a:ln w="12700">
            <a:solidFill>
              <a:srgbClr val="2A2A3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53328" y="1188720"/>
            <a:ext cx="41148" cy="1371600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16" name="Text 14"/>
          <p:cNvSpPr/>
          <p:nvPr/>
        </p:nvSpPr>
        <p:spPr>
          <a:xfrm>
            <a:off x="6254496" y="1316736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54496" y="153619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Reason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54496" y="1847088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 using only those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facts — and cite them.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6928" y="2724912"/>
            <a:ext cx="8010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modules, one shared file — each starts where the last finished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12648" y="307238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E7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938528" y="3072384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Problems people are actually complaining about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2648" y="34747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E7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938528" y="3474720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size, competitors, and where you'd sit among them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2648" y="387705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E7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People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938528" y="3877056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Cofounders who cover the gap you name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2648" y="427939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E7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Capital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938528" y="4279392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Funds whose thesis fits, and how to open the email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411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717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8010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8010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flow, end to end</a:t>
            </a:r>
            <a:endParaRPr lang="en-US" sz="2700" dirty="0"/>
          </a:p>
        </p:txBody>
      </p:sp>
      <p:pic>
        <p:nvPicPr>
          <p:cNvPr id="4" name="Image 0" descr="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0"/>
            <a:ext cx="8595360" cy="2788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4114800"/>
            <a:ext cx="8010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founder asks. We search, extract, reason — and write the answer into their file, with its sources attached.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411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717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8010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 IMPACT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8010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changes for a founder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188720"/>
            <a:ext cx="8010144" cy="841248"/>
          </a:xfrm>
          <a:prstGeom prst="roundRect">
            <a:avLst>
              <a:gd name="adj" fmla="val 5435"/>
            </a:avLst>
          </a:prstGeom>
          <a:solidFill>
            <a:srgbClr val="16161A"/>
          </a:solidFill>
          <a:ln w="12700">
            <a:solidFill>
              <a:srgbClr val="2A2A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33502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weeks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1248" y="1664208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desk research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18688" y="1408176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767328" y="133502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E7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minutes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767328" y="166420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modules, one sitting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2157984"/>
            <a:ext cx="8010144" cy="841248"/>
          </a:xfrm>
          <a:prstGeom prst="roundRect">
            <a:avLst>
              <a:gd name="adj" fmla="val 5435"/>
            </a:avLst>
          </a:prstGeom>
          <a:solidFill>
            <a:srgbClr val="16161A"/>
          </a:solidFill>
          <a:ln w="12700">
            <a:solidFill>
              <a:srgbClr val="2A2A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3042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£3–8k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263347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a market report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18688" y="23774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67328" y="23042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E7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tier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67328" y="263347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evidence, cited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127248"/>
            <a:ext cx="8010144" cy="841248"/>
          </a:xfrm>
          <a:prstGeom prst="roundRect">
            <a:avLst>
              <a:gd name="adj" fmla="val 5435"/>
            </a:avLst>
          </a:prstGeom>
          <a:solidFill>
            <a:srgbClr val="16161A"/>
          </a:solidFill>
          <a:ln w="12700">
            <a:solidFill>
              <a:srgbClr val="2A2A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2735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“trust me”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1248" y="3602736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an investor meeting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18688" y="334670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767328" y="327355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E7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the link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767328" y="360273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claim traceable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6928" y="4160520"/>
            <a:ext cx="8010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market that matters: ~5 million new businesses are registered in the US alone each year, and the ones that raise are asked for exactly these four answers.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411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717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8010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WE USE BRIGHT DATA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8010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is where every answer starts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52144"/>
            <a:ext cx="8010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in this product is recalled from training data. Bright Data is the only way anything enters the system.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3877056" cy="1097280"/>
          </a:xfrm>
          <a:prstGeom prst="roundRect">
            <a:avLst>
              <a:gd name="adj" fmla="val 4167"/>
            </a:avLst>
          </a:prstGeom>
          <a:solidFill>
            <a:srgbClr val="16161A"/>
          </a:solidFill>
          <a:ln w="12700">
            <a:solidFill>
              <a:srgbClr val="2A2A3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691640"/>
            <a:ext cx="41148" cy="1097280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81051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6384" y="2084832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Google results for every question a module asks — market size, competitors, funds, people.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0016" y="1691640"/>
            <a:ext cx="3877056" cy="1097280"/>
          </a:xfrm>
          <a:prstGeom prst="roundRect">
            <a:avLst>
              <a:gd name="adj" fmla="val 4167"/>
            </a:avLst>
          </a:prstGeom>
          <a:solidFill>
            <a:srgbClr val="16161A"/>
          </a:solidFill>
          <a:ln w="12700">
            <a:solidFill>
              <a:srgbClr val="2A2A3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0016" y="1691640"/>
            <a:ext cx="41148" cy="1097280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11" name="Text 9"/>
          <p:cNvSpPr/>
          <p:nvPr/>
        </p:nvSpPr>
        <p:spPr>
          <a:xfrm>
            <a:off x="4919472" y="181051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Scrape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19472" y="2084832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LinkedIn profiles turned into structured records, so cofounder search returns people rather than articles.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2971800"/>
            <a:ext cx="8010144" cy="1051560"/>
          </a:xfrm>
          <a:prstGeom prst="roundRect">
            <a:avLst>
              <a:gd name="adj" fmla="val 4348"/>
            </a:avLst>
          </a:prstGeom>
          <a:solidFill>
            <a:srgbClr val="16161A"/>
          </a:solidFill>
          <a:ln w="12700">
            <a:solidFill>
              <a:srgbClr val="2A2A3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971800"/>
            <a:ext cx="41148" cy="1051560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3072384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EE7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two chained — this is what makes cofounder search work at all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04672" y="3364992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finds eight real LinkedIn profiles for the gap you named.  →  Those exact profiles are scraped into full records.  →  Every one is scored against your gap and shown, including the poor fits.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4160520"/>
            <a:ext cx="8010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plain web search returns articles about cofounder matching. It cannot return people.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411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717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8010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WE USE AI/ML API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8010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models, each doing what it's good at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188720"/>
            <a:ext cx="3877056" cy="1463040"/>
          </a:xfrm>
          <a:prstGeom prst="roundRect">
            <a:avLst>
              <a:gd name="adj" fmla="val 3125"/>
            </a:avLst>
          </a:prstGeom>
          <a:solidFill>
            <a:srgbClr val="16161A"/>
          </a:solidFill>
          <a:ln w="12700">
            <a:solidFill>
              <a:srgbClr val="2A2A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188720"/>
            <a:ext cx="41148" cy="1463040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1673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everything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86384" y="1627632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fast, cheap model reads every search result and pulls out the facts. It runs on volume — nothing downstream ever sees raw pages.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0016" y="1188720"/>
            <a:ext cx="3877056" cy="1463040"/>
          </a:xfrm>
          <a:prstGeom prst="roundRect">
            <a:avLst>
              <a:gd name="adj" fmla="val 3125"/>
            </a:avLst>
          </a:prstGeom>
          <a:solidFill>
            <a:srgbClr val="16161A"/>
          </a:solidFill>
          <a:ln w="12700">
            <a:solidFill>
              <a:srgbClr val="2A2A3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0016" y="1188720"/>
            <a:ext cx="41148" cy="1463040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10" name="Text 8"/>
          <p:cNvSpPr/>
          <p:nvPr/>
        </p:nvSpPr>
        <p:spPr>
          <a:xfrm>
            <a:off x="4919472" y="131673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Reasoning carefully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19472" y="1627632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stronger model sees only those facts, and writes the answer: the market estimate, the ranked candidates, the opening line to an investor.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66928" y="2834640"/>
            <a:ext cx="8010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hardest thing we ask it to do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3154680"/>
            <a:ext cx="8010144" cy="914400"/>
          </a:xfrm>
          <a:prstGeom prst="roundRect">
            <a:avLst>
              <a:gd name="adj" fmla="val 5000"/>
            </a:avLst>
          </a:prstGeom>
          <a:solidFill>
            <a:srgbClr val="16161A"/>
          </a:solidFill>
          <a:ln w="12700">
            <a:solidFill>
              <a:srgbClr val="2A2A3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3154680"/>
            <a:ext cx="41148" cy="914400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3255264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Given ten competitors, work out the two questions that actually separate them — then place your idea among them.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" y="3584448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Carbon software splits on who buys it and how automatic it is. Developer tools split on whether you can sign up alone. Nobody can write that list in advance — there are thousands of industries.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4206240"/>
            <a:ext cx="8010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models, one key, chosen per task — the cheap one reads, the strong one decides.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411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717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8010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8010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to ship, not to demo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8930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WITH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121408" y="1234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native.builder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73168" y="12618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 + React, published to a live URL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1618488"/>
            <a:ext cx="8010144" cy="7315"/>
          </a:xfrm>
          <a:prstGeom prst="rect">
            <a:avLst/>
          </a:prstGeom>
          <a:solidFill>
            <a:srgbClr val="2A2A31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9280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21408" y="183794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 Edge Functions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73168" y="18653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TypeScript, running close to the user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2221992"/>
            <a:ext cx="8010144" cy="7315"/>
          </a:xfrm>
          <a:prstGeom prst="rect">
            <a:avLst/>
          </a:prstGeom>
          <a:solidFill>
            <a:srgbClr val="2A2A31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49631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21408" y="24414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 Postgres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73168" y="2468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shared startup file per founder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2825496"/>
            <a:ext cx="8010144" cy="7315"/>
          </a:xfrm>
          <a:prstGeom prst="rect">
            <a:avLst/>
          </a:prstGeom>
          <a:solidFill>
            <a:srgbClr val="2A2A31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09981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21408" y="30449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Bright Data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73168" y="30723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and scraping — the only source of facts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3429000"/>
            <a:ext cx="8010144" cy="7315"/>
          </a:xfrm>
          <a:prstGeom prst="rect">
            <a:avLst/>
          </a:prstGeom>
          <a:solidFill>
            <a:srgbClr val="2A2A31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7033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121408" y="364845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AI/ML API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73168" y="36758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models, chosen per task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4032504"/>
            <a:ext cx="8010144" cy="7315"/>
          </a:xfrm>
          <a:prstGeom prst="rect">
            <a:avLst/>
          </a:prstGeom>
          <a:solidFill>
            <a:srgbClr val="2A2A31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297680"/>
            <a:ext cx="8010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Keys never reach the browser. The app is live, not a prototype.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411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717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0"/>
            <a:ext cx="7955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Research your idea</a:t>
            </a:r>
            <a:endParaRPr lang="en-US" sz="3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you build it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283464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number, every name and every fund arrives with the link it came from.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3429000"/>
            <a:ext cx="2194560" cy="10973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36118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Venture Foundry · AI Factory hackathon 2026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411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717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Venture Foundry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Venture Foundry</dc:title>
  <dc:subject>PptxGenJS Presentation</dc:subject>
  <dc:creator>FlemingJohn</dc:creator>
  <cp:lastModifiedBy>FlemingJohn</cp:lastModifiedBy>
  <cp:revision>1</cp:revision>
  <dcterms:created xsi:type="dcterms:W3CDTF">2026-08-09T18:13:37Z</dcterms:created>
  <dcterms:modified xsi:type="dcterms:W3CDTF">2026-08-09T18:13:37Z</dcterms:modified>
</cp:coreProperties>
</file>